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Inter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19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972050"/>
            <a:ext cx="10972800" cy="1352550"/>
          </a:xfrm>
          <a:prstGeom prst="roundRect">
            <a:avLst>
              <a:gd name="adj" fmla="val 8450"/>
            </a:avLst>
          </a:prstGeom>
          <a:solidFill>
            <a:srgbClr val="182236"/>
          </a:solidFill>
          <a:ln w="9525">
            <a:solidFill>
              <a:srgbClr val="174D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363075" y="533400"/>
            <a:ext cx="2219325" cy="314325"/>
          </a:xfrm>
          <a:prstGeom prst="roundRect">
            <a:avLst>
              <a:gd name="adj" fmla="val 50000"/>
            </a:avLst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15475" y="609600"/>
            <a:ext cx="20097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A7F3D0"/>
                </a:solidFill>
                <a:latin typeface="Inter"/>
              </a:rPr>
              <a:t>HACKATHON POO • GRUPO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170807"/>
            <a:ext cx="9101137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Inter"/>
              </a:rPr>
              <a:t>Packing List y Despacho de Exportación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20367"/>
            <a:ext cx="107156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Inter"/>
              </a:rPr>
              <a:t>Sustentación en 3 Pilares: Método SCQA • Arquitectura POO • Demostración 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5210175"/>
            <a:ext cx="112680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4D399"/>
                </a:solidFill>
                <a:latin typeface="Inter"/>
              </a:rPr>
              <a:t>DATOS DE LA SUSTENTACIÓN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5429250"/>
            <a:ext cx="112680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Inter"/>
              </a:rPr>
              <a:t>• Docente Expositor: Ing. Luiggi Alexander Jalca Saltos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5667375"/>
            <a:ext cx="112680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Inter"/>
              </a:rPr>
              <a:t>• Asignatura: Programación Orientada a Objetos (CDS-0201) — Segundo Semestre "A"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5905500"/>
            <a:ext cx="112680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Inter"/>
              </a:rPr>
              <a:t>• Tema Asignado: Grupo 4 — Packing List y Despacho de Exportación en Terminal Marítimo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1408A64-8C0A-4537-7B16-BE55571D5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57" y="212989"/>
            <a:ext cx="3566526" cy="12727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0550" y="1348937"/>
            <a:ext cx="5410200" cy="2165787"/>
          </a:xfrm>
          <a:prstGeom prst="roundRect">
            <a:avLst>
              <a:gd name="adj" fmla="val 11819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343025"/>
            <a:ext cx="5372100" cy="2200274"/>
          </a:xfrm>
          <a:prstGeom prst="roundRect">
            <a:avLst>
              <a:gd name="adj" fmla="val 11819"/>
            </a:avLst>
          </a:prstGeom>
          <a:solidFill>
            <a:srgbClr val="FEF2F2"/>
          </a:solidFill>
          <a:ln w="1905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771900"/>
            <a:ext cx="5372100" cy="1894306"/>
          </a:xfrm>
          <a:prstGeom prst="roundRect">
            <a:avLst>
              <a:gd name="adj" fmla="val 11819"/>
            </a:avLst>
          </a:prstGeom>
          <a:solidFill>
            <a:srgbClr val="FFFBEB"/>
          </a:solidFill>
          <a:ln w="1905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771899"/>
            <a:ext cx="5372100" cy="2288505"/>
          </a:xfrm>
          <a:prstGeom prst="roundRect">
            <a:avLst>
              <a:gd name="adj" fmla="val 11819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-2133600" y="6257925"/>
            <a:ext cx="13716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 u="none">
                <a:solidFill>
                  <a:srgbClr val="64748B"/>
                </a:solidFill>
                <a:latin typeface="Inter"/>
              </a:rPr>
              <a:t>2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Inter"/>
              </a:rPr>
              <a:t>PILAR 1 • PRESENTACIÓN DEL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Planteamiento con el Método SCQA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2808" y="1558384"/>
            <a:ext cx="6000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Inter"/>
              </a:rPr>
              <a:t>S • </a:t>
            </a:r>
            <a:r>
              <a:rPr sz="1050" b="1" i="0" u="none" dirty="0" err="1">
                <a:solidFill>
                  <a:srgbClr val="2563EB"/>
                </a:solidFill>
                <a:latin typeface="Inter"/>
              </a:rPr>
              <a:t>Situación</a:t>
            </a:r>
            <a:endParaRPr sz="1050" b="1" i="0" u="none" dirty="0">
              <a:solidFill>
                <a:srgbClr val="2563EB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2808" y="1963319"/>
            <a:ext cx="4895850" cy="959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89"/>
              </a:lnSpc>
            </a:pPr>
            <a:r>
              <a:rPr lang="es-ES" sz="1400" b="1" dirty="0"/>
              <a:t>El contexto:</a:t>
            </a:r>
            <a:r>
              <a:rPr lang="es-ES" sz="1400" dirty="0"/>
              <a:t> Las operaciones de exportación de productos del mar en el terminal marítimo exigen un control estricto y coordinado, que inicia en la oficina comercial con el </a:t>
            </a:r>
            <a:r>
              <a:rPr lang="es-ES" sz="1400" b="1" dirty="0"/>
              <a:t>Vendedor</a:t>
            </a:r>
            <a:r>
              <a:rPr lang="es-ES" sz="1400" dirty="0"/>
              <a:t> y la emisión de los documentos iniciales de despacho.</a:t>
            </a:r>
            <a:endParaRPr sz="135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10300" y="1482184"/>
            <a:ext cx="56959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DC2626"/>
                </a:solidFill>
                <a:latin typeface="Inter"/>
              </a:rPr>
              <a:t>C • </a:t>
            </a:r>
            <a:r>
              <a:rPr sz="1050" b="1" i="0" u="none" dirty="0" err="1">
                <a:solidFill>
                  <a:srgbClr val="DC2626"/>
                </a:solidFill>
                <a:latin typeface="Inter"/>
              </a:rPr>
              <a:t>Complicación</a:t>
            </a:r>
            <a:endParaRPr sz="1050" b="1" i="0" u="none" dirty="0">
              <a:solidFill>
                <a:srgbClr val="DC2626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5550" y="1870204"/>
            <a:ext cx="4895850" cy="144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89"/>
              </a:lnSpc>
            </a:pPr>
            <a:r>
              <a:rPr lang="es-ES" sz="1400" dirty="0"/>
              <a:t>En la logística internacional, el tiempo es un factor crítico. Evaluar manualmente la frescura comparando la </a:t>
            </a:r>
            <a:r>
              <a:rPr lang="es-ES" sz="1400" b="1" dirty="0"/>
              <a:t>fecha de producción</a:t>
            </a:r>
            <a:r>
              <a:rPr lang="es-ES" sz="1400" dirty="0"/>
              <a:t> frente a la </a:t>
            </a:r>
            <a:r>
              <a:rPr lang="es-ES" sz="1400" b="1" dirty="0"/>
              <a:t>fecha de exportación</a:t>
            </a:r>
            <a:r>
              <a:rPr lang="es-ES" sz="1400" dirty="0"/>
              <a:t> genera altos riesgos de error humano. Si la carga supera los plazos permitidos, debe clasificarse estrictamente (</a:t>
            </a:r>
            <a:r>
              <a:rPr lang="es-ES" sz="1400" i="1" dirty="0"/>
              <a:t>Producto OK</a:t>
            </a:r>
            <a:r>
              <a:rPr lang="es-ES" sz="1400" dirty="0"/>
              <a:t>, </a:t>
            </a:r>
            <a:r>
              <a:rPr lang="es-ES" sz="1400" i="1" dirty="0"/>
              <a:t>En Observación</a:t>
            </a:r>
            <a:r>
              <a:rPr lang="es-ES" sz="1400" dirty="0"/>
              <a:t> o </a:t>
            </a:r>
            <a:r>
              <a:rPr lang="es-ES" sz="1400" i="1" dirty="0"/>
              <a:t>Rechazado</a:t>
            </a:r>
            <a:r>
              <a:rPr lang="es-ES" sz="1400" dirty="0"/>
              <a:t>) para evitar sanciones sanitarias en el puerto de destino.</a:t>
            </a:r>
            <a:endParaRPr sz="135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5350" y="4057650"/>
            <a:ext cx="6000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Inter"/>
              </a:rPr>
              <a:t>Q • Pregunta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4295775"/>
            <a:ext cx="4895850" cy="959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89"/>
              </a:lnSpc>
            </a:pPr>
            <a:r>
              <a:rPr lang="es-ES" sz="1400" dirty="0"/>
              <a:t>¿Cómo podemos modelar este flujo operativo en un software escalable, garantizando la integridad de los datos mediante invariantes y automatizando la validación temporal de los lotes antes de consolidar la carga en el contenedor?</a:t>
            </a:r>
            <a:endParaRPr sz="135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3877295"/>
            <a:ext cx="56959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6A34A"/>
                </a:solidFill>
                <a:latin typeface="Inter"/>
              </a:rPr>
              <a:t>A • </a:t>
            </a:r>
            <a:r>
              <a:rPr sz="1050" b="1" i="0" u="none" dirty="0" err="1">
                <a:solidFill>
                  <a:srgbClr val="16A34A"/>
                </a:solidFill>
                <a:latin typeface="Inter"/>
              </a:rPr>
              <a:t>Respuesta</a:t>
            </a:r>
            <a:endParaRPr sz="1050" b="1" i="0" u="none" dirty="0">
              <a:solidFill>
                <a:srgbClr val="16A34A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05550" y="4057650"/>
            <a:ext cx="4895850" cy="1705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89"/>
              </a:lnSpc>
            </a:pPr>
            <a:r>
              <a:rPr lang="es-ES" sz="1400" b="1" dirty="0"/>
              <a:t>La solución técnica (POO en Java):</a:t>
            </a:r>
            <a:r>
              <a:rPr lang="es-ES" sz="1400" dirty="0"/>
              <a:t> Diseñamos un sistema modular orientado a objetos que refleja fielmente cada etapa del proceso </a:t>
            </a:r>
            <a:r>
              <a:rPr lang="es-ES" sz="1400" dirty="0" smtClean="0"/>
              <a:t>físico</a:t>
            </a:r>
          </a:p>
          <a:p>
            <a:pPr>
              <a:lnSpc>
                <a:spcPts val="1889"/>
              </a:lnSpc>
            </a:pPr>
            <a:r>
              <a:rPr lang="en-US" sz="1400" b="1" dirty="0" err="1"/>
              <a:t>Estructura</a:t>
            </a:r>
            <a:r>
              <a:rPr lang="en-US" sz="1400" b="1" dirty="0"/>
              <a:t> y </a:t>
            </a:r>
            <a:r>
              <a:rPr lang="en-US" sz="1400" b="1" dirty="0" err="1"/>
              <a:t>Encapsulamiento</a:t>
            </a:r>
            <a:r>
              <a:rPr lang="en-US" sz="1400" b="1" dirty="0"/>
              <a:t>:</a:t>
            </a:r>
            <a:r>
              <a:rPr lang="en-US" sz="1400" dirty="0"/>
              <a:t> </a:t>
            </a:r>
            <a:r>
              <a:rPr lang="en-US" sz="1400" dirty="0" err="1" smtClean="0"/>
              <a:t>clases</a:t>
            </a:r>
            <a:r>
              <a:rPr lang="en-US" sz="1400" dirty="0" smtClean="0"/>
              <a:t> </a:t>
            </a:r>
            <a:r>
              <a:rPr lang="en-US" sz="1400" dirty="0" err="1" smtClean="0"/>
              <a:t>como</a:t>
            </a:r>
            <a:r>
              <a:rPr lang="en-US" sz="1400" dirty="0" smtClean="0"/>
              <a:t> </a:t>
            </a:r>
            <a:r>
              <a:rPr lang="en-US" sz="1400" dirty="0" err="1" smtClean="0"/>
              <a:t>Vendedor</a:t>
            </a:r>
            <a:r>
              <a:rPr lang="en-US" sz="1400" dirty="0" smtClean="0"/>
              <a:t>, </a:t>
            </a:r>
            <a:r>
              <a:rPr lang="en-US" sz="1400" dirty="0" err="1" smtClean="0"/>
              <a:t>pakinglist</a:t>
            </a:r>
            <a:r>
              <a:rPr lang="en-US" sz="1400" dirty="0" smtClean="0"/>
              <a:t>, </a:t>
            </a:r>
            <a:r>
              <a:rPr lang="en-US" sz="1400" dirty="0" err="1" smtClean="0"/>
              <a:t>formulario</a:t>
            </a:r>
            <a:r>
              <a:rPr lang="en-US" sz="1400" dirty="0" smtClean="0"/>
              <a:t>, </a:t>
            </a:r>
            <a:r>
              <a:rPr lang="en-US" sz="1400" dirty="0" err="1" smtClean="0"/>
              <a:t>etc</a:t>
            </a: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s-ES" sz="1400" b="1" dirty="0"/>
              <a:t>Lógica de Negocio Temporal:</a:t>
            </a:r>
            <a:r>
              <a:rPr lang="es-ES" sz="1400" dirty="0"/>
              <a:t> La </a:t>
            </a:r>
            <a:r>
              <a:rPr lang="es-ES" sz="1400" dirty="0" smtClean="0"/>
              <a:t>clase </a:t>
            </a:r>
            <a:r>
              <a:rPr lang="en-US" sz="1400" dirty="0" err="1" smtClean="0"/>
              <a:t>InspeccionTemporal</a:t>
            </a:r>
            <a:r>
              <a:rPr lang="en-US" sz="1400" dirty="0"/>
              <a:t> </a:t>
            </a:r>
            <a:r>
              <a:rPr lang="en-US" sz="1400" dirty="0" err="1"/>
              <a:t>implementa</a:t>
            </a:r>
            <a:r>
              <a:rPr lang="en-US" sz="1400" dirty="0"/>
              <a:t> el </a:t>
            </a:r>
            <a:r>
              <a:rPr lang="en-US" sz="1400" dirty="0" err="1"/>
              <a:t>cálculo</a:t>
            </a:r>
            <a:r>
              <a:rPr lang="en-US" sz="1400" dirty="0"/>
              <a:t> </a:t>
            </a:r>
            <a:r>
              <a:rPr lang="en-US" sz="1400" dirty="0" err="1"/>
              <a:t>automático</a:t>
            </a:r>
            <a:r>
              <a:rPr lang="en-US" sz="1400" dirty="0"/>
              <a:t> de </a:t>
            </a:r>
            <a:r>
              <a:rPr lang="en-US" sz="1400" dirty="0" err="1"/>
              <a:t>fechas</a:t>
            </a:r>
            <a:endParaRPr sz="1350" b="0" i="0" u="none" dirty="0">
              <a:solidFill>
                <a:srgbClr val="334155"/>
              </a:solidFill>
              <a:latin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48400" y="1924050"/>
            <a:ext cx="5334000" cy="752475"/>
          </a:xfrm>
          <a:prstGeom prst="roundRect">
            <a:avLst>
              <a:gd name="adj" fmla="val 151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28925"/>
            <a:ext cx="5334000" cy="752475"/>
          </a:xfrm>
          <a:prstGeom prst="roundRect">
            <a:avLst>
              <a:gd name="adj" fmla="val 151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3733800"/>
            <a:ext cx="5334000" cy="752475"/>
          </a:xfrm>
          <a:prstGeom prst="roundRect">
            <a:avLst>
              <a:gd name="adj" fmla="val 151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4638675"/>
            <a:ext cx="5334000" cy="752475"/>
          </a:xfrm>
          <a:prstGeom prst="roundRect">
            <a:avLst>
              <a:gd name="adj" fmla="val 151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85975"/>
            <a:ext cx="5334000" cy="3143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2133600" y="6257925"/>
            <a:ext cx="13716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 u="none">
                <a:solidFill>
                  <a:srgbClr val="64748B"/>
                </a:solidFill>
                <a:latin typeface="Inter"/>
              </a:rPr>
              <a:t>3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Inter"/>
              </a:rPr>
              <a:t>PILAR 1 • DEL MUNDO FÍSICO AL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Flujo Operativo de Exportación en Terminal Marítimo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375" y="2105025"/>
            <a:ext cx="5762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1. Vendedor / Ejecutivo Comercial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2333625"/>
            <a:ext cx="57626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Responsable de gestionar los datos comerciales y de despacho inicial.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3009900"/>
            <a:ext cx="5762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2. Datos de Despacho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3238500"/>
            <a:ext cx="57626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Registro de país destino, cliente (ej. Mercadona), fecha y lote.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914775"/>
            <a:ext cx="5762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3. Validación de Antigüedad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4143375"/>
            <a:ext cx="57626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Clasificación automática: ProductoOK, En Observación o Rechazado.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4819650"/>
            <a:ext cx="5762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4 y 5. Contenedor y Packing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5048250"/>
            <a:ext cx="57626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Carga en contenedor reefer y resumen final para zarpe.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58A60826-32AE-06C7-94D2-C46372ACE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" y="1776078"/>
            <a:ext cx="5762625" cy="37630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38400"/>
            <a:ext cx="3530500" cy="1123950"/>
          </a:xfrm>
          <a:prstGeom prst="roundRect">
            <a:avLst>
              <a:gd name="adj" fmla="val 13559"/>
            </a:avLst>
          </a:prstGeom>
          <a:solidFill>
            <a:srgbClr val="F8FAFC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600" y="2438400"/>
            <a:ext cx="3530649" cy="1123950"/>
          </a:xfrm>
          <a:prstGeom prst="roundRect">
            <a:avLst>
              <a:gd name="adj" fmla="val 13559"/>
            </a:avLst>
          </a:prstGeom>
          <a:solidFill>
            <a:srgbClr val="F8FAF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750" y="2438400"/>
            <a:ext cx="3530500" cy="1123950"/>
          </a:xfrm>
          <a:prstGeom prst="roundRect">
            <a:avLst>
              <a:gd name="adj" fmla="val 13559"/>
            </a:avLst>
          </a:prstGeom>
          <a:solidFill>
            <a:srgbClr val="F8FAFC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752850"/>
            <a:ext cx="3530500" cy="1123950"/>
          </a:xfrm>
          <a:prstGeom prst="roundRect">
            <a:avLst>
              <a:gd name="adj" fmla="val 13559"/>
            </a:avLst>
          </a:prstGeom>
          <a:solidFill>
            <a:srgbClr val="F8FAFC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30600" y="3752850"/>
            <a:ext cx="3530649" cy="1123950"/>
          </a:xfrm>
          <a:prstGeom prst="roundRect">
            <a:avLst>
              <a:gd name="adj" fmla="val 13559"/>
            </a:avLst>
          </a:prstGeom>
          <a:solidFill>
            <a:srgbClr val="F8FAFC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51750" y="3752850"/>
            <a:ext cx="3530500" cy="1123950"/>
          </a:xfrm>
          <a:prstGeom prst="roundRect">
            <a:avLst>
              <a:gd name="adj" fmla="val 13559"/>
            </a:avLst>
          </a:prstGeom>
          <a:solidFill>
            <a:srgbClr val="F8FAFC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-2133600" y="6257925"/>
            <a:ext cx="13716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 u="none">
                <a:solidFill>
                  <a:srgbClr val="64748B"/>
                </a:solidFill>
                <a:latin typeface="Inter"/>
              </a:rPr>
              <a:t>4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Inter"/>
              </a:rPr>
              <a:t>PILAR 2 • ESTRUCTURA DEL CÓDIGO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Arquitectura Orientada a Objetos e Invariantes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647950"/>
            <a:ext cx="408371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D4ED8"/>
                </a:solidFill>
                <a:latin typeface="Inter"/>
              </a:rPr>
              <a:t>Vendedor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2924175"/>
            <a:ext cx="3889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Ejecutivo comercial internacional responsable.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3200400"/>
            <a:ext cx="3889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🔒 Invariante: idvendedor not null.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0150" y="2647950"/>
            <a:ext cx="408390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47857"/>
                </a:solidFill>
                <a:latin typeface="Inter"/>
              </a:rPr>
              <a:t>PackingList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0150" y="2924175"/>
            <a:ext cx="38894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Datos de formulario (país, cliente, lotes).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0150" y="3200400"/>
            <a:ext cx="3889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🔒 Invariante: Fechas válidas.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1300" y="2647950"/>
            <a:ext cx="39306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B45309"/>
                </a:solidFill>
                <a:latin typeface="Inter"/>
              </a:rPr>
              <a:t>ValidadorAntiguedad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300" y="2924175"/>
            <a:ext cx="3889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Reglas de negocio y estados de lote.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300" y="3200400"/>
            <a:ext cx="3889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🔒 Invariante: &lt; 1m OK / &gt; 2m Rechazado.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3962400"/>
            <a:ext cx="408371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D28D9"/>
                </a:solidFill>
                <a:latin typeface="Inter"/>
              </a:rPr>
              <a:t>ContenedorReefer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" y="4238625"/>
            <a:ext cx="3889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Almacena productos en observación (-20°C).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50" y="4514850"/>
            <a:ext cx="3889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🔒 Invariante: Capacidad máxima.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0150" y="3962400"/>
            <a:ext cx="408390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BE185D"/>
                </a:solidFill>
                <a:latin typeface="Inter"/>
              </a:rPr>
              <a:t>ResumenEmbarque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0150" y="4238625"/>
            <a:ext cx="38894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Consolidado final de cajas aprobadas.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0150" y="4514850"/>
            <a:ext cx="3889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🔒 Invariante: Total exacto.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1300" y="3962400"/>
            <a:ext cx="39306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E7490"/>
                </a:solidFill>
                <a:latin typeface="Inter"/>
              </a:rPr>
              <a:t>Main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1300" y="4238625"/>
            <a:ext cx="3889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Punto de entrada y ejecución de pruebas.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1300" y="4514850"/>
            <a:ext cx="3889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🔒 Invariante: Ejecución sin fallos.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86050"/>
            <a:ext cx="6029622" cy="1943100"/>
          </a:xfrm>
          <a:prstGeom prst="roundRect">
            <a:avLst>
              <a:gd name="adj" fmla="val 784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944022" y="2376487"/>
            <a:ext cx="4638377" cy="752475"/>
          </a:xfrm>
          <a:prstGeom prst="roundRect">
            <a:avLst>
              <a:gd name="adj" fmla="val 15189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4022" y="3281362"/>
            <a:ext cx="4638377" cy="752475"/>
          </a:xfrm>
          <a:prstGeom prst="roundRect">
            <a:avLst>
              <a:gd name="adj" fmla="val 15189"/>
            </a:avLst>
          </a:prstGeom>
          <a:solidFill>
            <a:srgbClr val="FFFBEB"/>
          </a:solidFill>
          <a:ln w="1905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44022" y="4186237"/>
            <a:ext cx="4638377" cy="752475"/>
          </a:xfrm>
          <a:prstGeom prst="roundRect">
            <a:avLst>
              <a:gd name="adj" fmla="val 15189"/>
            </a:avLst>
          </a:prstGeom>
          <a:solidFill>
            <a:srgbClr val="FEF2F2"/>
          </a:solidFill>
          <a:ln w="1905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-2133600" y="6257925"/>
            <a:ext cx="13716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 u="none">
                <a:solidFill>
                  <a:srgbClr val="64748B"/>
                </a:solidFill>
                <a:latin typeface="Inter"/>
              </a:rPr>
              <a:t>5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Inter"/>
              </a:rPr>
              <a:t>PILAR 3 • DEMOSTRACIÓN TÉCNICA EN 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Construcción de Objetos y Validación en Vivo (main.java)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914650"/>
            <a:ext cx="5667672" cy="148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 smtClean="0">
                <a:solidFill>
                  <a:srgbClr val="64748B"/>
                </a:solidFill>
                <a:latin typeface="monospace"/>
              </a:rPr>
              <a:t>// </a:t>
            </a:r>
            <a:r>
              <a:rPr sz="975" b="0" i="0" u="none" dirty="0" err="1" smtClean="0">
                <a:solidFill>
                  <a:srgbClr val="64748B"/>
                </a:solidFill>
                <a:latin typeface="monospace"/>
              </a:rPr>
              <a:t>Flujo</a:t>
            </a:r>
            <a:r>
              <a:rPr sz="975" b="0" i="0" u="none" dirty="0" smtClean="0">
                <a:solidFill>
                  <a:srgbClr val="64748B"/>
                </a:solidFill>
                <a:latin typeface="monospace"/>
              </a:rPr>
              <a:t> de </a:t>
            </a:r>
            <a:r>
              <a:rPr sz="975" b="0" i="0" u="none" dirty="0" err="1" smtClean="0">
                <a:solidFill>
                  <a:srgbClr val="64748B"/>
                </a:solidFill>
                <a:latin typeface="monospace"/>
              </a:rPr>
              <a:t>Ejecución</a:t>
            </a:r>
            <a:r>
              <a:rPr sz="975" b="0" i="0" u="none" dirty="0" smtClean="0">
                <a:solidFill>
                  <a:srgbClr val="64748B"/>
                </a:solidFill>
                <a:latin typeface="monospace"/>
              </a:rPr>
              <a:t> </a:t>
            </a:r>
            <a:r>
              <a:rPr sz="975" b="0" i="0" u="none" dirty="0" err="1" smtClean="0">
                <a:solidFill>
                  <a:srgbClr val="64748B"/>
                </a:solidFill>
                <a:latin typeface="monospace"/>
              </a:rPr>
              <a:t>en</a:t>
            </a:r>
            <a:r>
              <a:rPr sz="975" b="0" i="0" u="none" dirty="0" smtClean="0">
                <a:solidFill>
                  <a:srgbClr val="64748B"/>
                </a:solidFill>
                <a:latin typeface="monospace"/>
              </a:rPr>
              <a:t> main.java</a:t>
            </a:r>
            <a:r>
              <a:rPr dirty="0" smtClean="0"/>
              <a:t>
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 </a:t>
            </a:r>
            <a:r>
              <a:rPr sz="975" b="0" i="0" u="none" dirty="0" err="1" smtClean="0">
                <a:solidFill>
                  <a:srgbClr val="E2E8F0"/>
                </a:solidFill>
                <a:latin typeface="monospace"/>
              </a:rPr>
              <a:t>Vendedor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 v1 = </a:t>
            </a:r>
            <a:r>
              <a:rPr sz="975" b="0" i="0" u="none" dirty="0" smtClean="0">
                <a:solidFill>
                  <a:srgbClr val="38BDF8"/>
                </a:solidFill>
                <a:latin typeface="monospace"/>
              </a:rPr>
              <a:t>new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 </a:t>
            </a:r>
            <a:r>
              <a:rPr sz="975" b="0" i="0" u="none" dirty="0" err="1" smtClean="0">
                <a:solidFill>
                  <a:srgbClr val="E2E8F0"/>
                </a:solidFill>
                <a:latin typeface="monospace"/>
              </a:rPr>
              <a:t>Vendedor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(</a:t>
            </a:r>
            <a:r>
              <a:rPr sz="975" b="0" i="0" u="none" dirty="0" smtClean="0">
                <a:solidFill>
                  <a:srgbClr val="34D399"/>
                </a:solidFill>
                <a:latin typeface="monospace"/>
              </a:rPr>
              <a:t>"V001"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, </a:t>
            </a:r>
            <a:r>
              <a:rPr sz="975" b="0" i="0" u="none" dirty="0" smtClean="0">
                <a:solidFill>
                  <a:srgbClr val="34D399"/>
                </a:solidFill>
                <a:latin typeface="monospace"/>
              </a:rPr>
              <a:t>"Carlos"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);</a:t>
            </a:r>
            <a:r>
              <a:rPr dirty="0" smtClean="0"/>
              <a:t>
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 </a:t>
            </a:r>
            <a:r>
              <a:rPr sz="975" b="0" i="0" u="none" dirty="0" err="1" smtClean="0">
                <a:solidFill>
                  <a:srgbClr val="E2E8F0"/>
                </a:solidFill>
                <a:latin typeface="monospace"/>
              </a:rPr>
              <a:t>PackingList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 p1 = </a:t>
            </a:r>
            <a:r>
              <a:rPr sz="975" b="0" i="0" u="none" dirty="0" smtClean="0">
                <a:solidFill>
                  <a:srgbClr val="38BDF8"/>
                </a:solidFill>
                <a:latin typeface="monospace"/>
              </a:rPr>
              <a:t>new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 </a:t>
            </a:r>
            <a:r>
              <a:rPr sz="975" b="0" i="0" u="none" dirty="0" err="1" smtClean="0">
                <a:solidFill>
                  <a:srgbClr val="E2E8F0"/>
                </a:solidFill>
                <a:latin typeface="monospace"/>
              </a:rPr>
              <a:t>PackingList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(</a:t>
            </a:r>
            <a:r>
              <a:rPr sz="975" b="0" i="0" u="none" dirty="0" smtClean="0">
                <a:solidFill>
                  <a:srgbClr val="34D399"/>
                </a:solidFill>
                <a:latin typeface="monospace"/>
              </a:rPr>
              <a:t>"</a:t>
            </a:r>
            <a:r>
              <a:rPr sz="975" b="0" i="0" u="none" dirty="0" err="1" smtClean="0">
                <a:solidFill>
                  <a:srgbClr val="34D399"/>
                </a:solidFill>
                <a:latin typeface="monospace"/>
              </a:rPr>
              <a:t>España</a:t>
            </a:r>
            <a:r>
              <a:rPr sz="975" b="0" i="0" u="none" dirty="0" smtClean="0">
                <a:solidFill>
                  <a:srgbClr val="34D399"/>
                </a:solidFill>
                <a:latin typeface="monospace"/>
              </a:rPr>
              <a:t>"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, </a:t>
            </a:r>
            <a:r>
              <a:rPr sz="975" b="0" i="0" u="none" dirty="0" smtClean="0">
                <a:solidFill>
                  <a:srgbClr val="34D399"/>
                </a:solidFill>
                <a:latin typeface="monospace"/>
              </a:rPr>
              <a:t>"</a:t>
            </a:r>
            <a:r>
              <a:rPr sz="975" b="0" i="0" u="none" dirty="0" err="1" smtClean="0">
                <a:solidFill>
                  <a:srgbClr val="34D399"/>
                </a:solidFill>
                <a:latin typeface="monospace"/>
              </a:rPr>
              <a:t>Mercadona</a:t>
            </a:r>
            <a:r>
              <a:rPr sz="975" b="0" i="0" u="none" dirty="0" smtClean="0">
                <a:solidFill>
                  <a:srgbClr val="34D399"/>
                </a:solidFill>
                <a:latin typeface="monospace"/>
              </a:rPr>
              <a:t>"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, </a:t>
            </a:r>
            <a:r>
              <a:rPr sz="975" b="0" i="0" u="none" dirty="0" smtClean="0">
                <a:solidFill>
                  <a:srgbClr val="34D399"/>
                </a:solidFill>
                <a:latin typeface="monospace"/>
              </a:rPr>
              <a:t>"00090001"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);</a:t>
            </a:r>
            <a:r>
              <a:rPr dirty="0" smtClean="0"/>
              <a:t>
</a:t>
            </a:r>
            <a:r>
              <a:rPr sz="975" b="0" i="0" u="none" dirty="0" smtClean="0">
                <a:solidFill>
                  <a:srgbClr val="64748B"/>
                </a:solidFill>
                <a:latin typeface="monospace"/>
              </a:rPr>
              <a:t>// </a:t>
            </a:r>
            <a:r>
              <a:rPr sz="975" b="0" i="0" u="none" dirty="0" err="1" smtClean="0">
                <a:solidFill>
                  <a:srgbClr val="64748B"/>
                </a:solidFill>
                <a:latin typeface="monospace"/>
              </a:rPr>
              <a:t>Validación</a:t>
            </a:r>
            <a:r>
              <a:rPr sz="975" b="0" i="0" u="none" dirty="0" smtClean="0">
                <a:solidFill>
                  <a:srgbClr val="64748B"/>
                </a:solidFill>
                <a:latin typeface="monospace"/>
              </a:rPr>
              <a:t> de </a:t>
            </a:r>
            <a:r>
              <a:rPr sz="975" b="0" i="0" u="none" dirty="0" err="1" smtClean="0">
                <a:solidFill>
                  <a:srgbClr val="64748B"/>
                </a:solidFill>
                <a:latin typeface="monospace"/>
              </a:rPr>
              <a:t>Antigüedad</a:t>
            </a:r>
            <a:r>
              <a:rPr dirty="0" smtClean="0"/>
              <a:t>
</a:t>
            </a:r>
            <a:r>
              <a:rPr sz="975" b="0" i="0" u="none" dirty="0" smtClean="0">
                <a:solidFill>
                  <a:srgbClr val="38BDF8"/>
                </a:solidFill>
                <a:latin typeface="monospace"/>
              </a:rPr>
              <a:t>double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 </a:t>
            </a:r>
            <a:r>
              <a:rPr sz="975" b="0" i="0" u="none" dirty="0" err="1" smtClean="0">
                <a:solidFill>
                  <a:srgbClr val="E2E8F0"/>
                </a:solidFill>
                <a:latin typeface="monospace"/>
              </a:rPr>
              <a:t>meses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 = 0.5; </a:t>
            </a:r>
            <a:r>
              <a:rPr sz="975" b="0" i="0" u="none" dirty="0" smtClean="0">
                <a:solidFill>
                  <a:srgbClr val="64748B"/>
                </a:solidFill>
                <a:latin typeface="monospace"/>
              </a:rPr>
              <a:t>// </a:t>
            </a:r>
            <a:r>
              <a:rPr sz="975" b="0" i="0" u="none" dirty="0" err="1" smtClean="0">
                <a:solidFill>
                  <a:srgbClr val="64748B"/>
                </a:solidFill>
                <a:latin typeface="monospace"/>
              </a:rPr>
              <a:t>Menor</a:t>
            </a:r>
            <a:r>
              <a:rPr sz="975" b="0" i="0" u="none" dirty="0" smtClean="0">
                <a:solidFill>
                  <a:srgbClr val="64748B"/>
                </a:solidFill>
                <a:latin typeface="monospace"/>
              </a:rPr>
              <a:t> a 1 </a:t>
            </a:r>
            <a:r>
              <a:rPr sz="975" b="0" i="0" u="none" dirty="0" err="1" smtClean="0">
                <a:solidFill>
                  <a:srgbClr val="64748B"/>
                </a:solidFill>
                <a:latin typeface="monospace"/>
              </a:rPr>
              <a:t>mes</a:t>
            </a:r>
            <a:r>
              <a:rPr dirty="0" smtClean="0"/>
              <a:t>
</a:t>
            </a:r>
            <a:r>
              <a:rPr sz="975" b="0" i="0" u="none" dirty="0" smtClean="0">
                <a:solidFill>
                  <a:srgbClr val="C084FC"/>
                </a:solidFill>
                <a:latin typeface="monospace"/>
              </a:rPr>
              <a:t>String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 </a:t>
            </a:r>
            <a:r>
              <a:rPr sz="975" b="0" i="0" u="none" dirty="0" err="1" smtClean="0">
                <a:solidFill>
                  <a:srgbClr val="E2E8F0"/>
                </a:solidFill>
                <a:latin typeface="monospace"/>
              </a:rPr>
              <a:t>estado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 = p1.validarAntiguedad(</a:t>
            </a:r>
            <a:r>
              <a:rPr sz="975" b="0" i="0" u="none" dirty="0" err="1" smtClean="0">
                <a:solidFill>
                  <a:srgbClr val="E2E8F0"/>
                </a:solidFill>
                <a:latin typeface="monospace"/>
              </a:rPr>
              <a:t>meses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);</a:t>
            </a:r>
            <a:r>
              <a:rPr dirty="0" smtClean="0"/>
              <a:t>
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 </a:t>
            </a:r>
            <a:r>
              <a:rPr sz="975" b="0" i="0" u="none" dirty="0" err="1" smtClean="0">
                <a:solidFill>
                  <a:srgbClr val="E2E8F0"/>
                </a:solidFill>
                <a:latin typeface="monospace"/>
              </a:rPr>
              <a:t>System.out.println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(</a:t>
            </a:r>
            <a:r>
              <a:rPr sz="975" b="0" i="0" u="none" dirty="0" smtClean="0">
                <a:solidFill>
                  <a:srgbClr val="34D399"/>
                </a:solidFill>
                <a:latin typeface="monospace"/>
              </a:rPr>
              <a:t>"Estado: "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 + </a:t>
            </a:r>
            <a:r>
              <a:rPr sz="975" b="0" i="0" u="none" dirty="0" err="1" smtClean="0">
                <a:solidFill>
                  <a:srgbClr val="E2E8F0"/>
                </a:solidFill>
                <a:latin typeface="monospace"/>
              </a:rPr>
              <a:t>estado</a:t>
            </a:r>
            <a:r>
              <a:rPr sz="975" b="0" i="0" u="none" dirty="0" smtClean="0">
                <a:solidFill>
                  <a:srgbClr val="E2E8F0"/>
                </a:solidFill>
                <a:latin typeface="monospace"/>
              </a:rPr>
              <a:t>); </a:t>
            </a:r>
            <a:r>
              <a:rPr sz="975" b="0" i="0" u="none" dirty="0" smtClean="0">
                <a:solidFill>
                  <a:srgbClr val="64748B"/>
                </a:solidFill>
                <a:latin typeface="monospace"/>
              </a:rPr>
              <a:t>// </a:t>
            </a:r>
            <a:r>
              <a:rPr sz="975" b="0" i="0" u="none" dirty="0" err="1" smtClean="0">
                <a:solidFill>
                  <a:srgbClr val="64748B"/>
                </a:solidFill>
                <a:latin typeface="monospace"/>
              </a:rPr>
              <a:t>ProductoOK</a:t>
            </a:r>
            <a:endParaRPr sz="975" b="0" i="0" u="none" dirty="0">
              <a:solidFill>
                <a:srgbClr val="64748B"/>
              </a:solidFill>
              <a:latin typeface="monospace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34522" y="2566987"/>
            <a:ext cx="505747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A34A"/>
                </a:solidFill>
                <a:latin typeface="Inter"/>
              </a:rPr>
              <a:t>✔ Caso Válido (Antigüedad &lt; 1 mes)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4522" y="2786062"/>
            <a:ext cx="505747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Clasificado como ProductoOK para embarque directo.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4522" y="3471862"/>
            <a:ext cx="505747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D97706"/>
                </a:solidFill>
                <a:latin typeface="Inter"/>
              </a:rPr>
              <a:t>⚠ Caso Observación (1 a 2 meses)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4522" y="3690937"/>
            <a:ext cx="505747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Derivado automáticamente a contenedor reefer (-20°C).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4522" y="4376737"/>
            <a:ext cx="505747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DC2626"/>
                </a:solidFill>
                <a:latin typeface="Inter"/>
              </a:rPr>
              <a:t>❌ Caso Rechazado (&gt; 2 meses)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4522" y="4595812"/>
            <a:ext cx="505747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Bloqueado por el sistema, no apto para exportación.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625</Words>
  <Application>Microsoft Office PowerPoint</Application>
  <PresentationFormat>Panorámica</PresentationFormat>
  <Paragraphs>61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Calibri</vt:lpstr>
      <vt:lpstr>Arial</vt:lpstr>
      <vt:lpstr>Inter</vt:lpstr>
      <vt:lpstr>monospace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Winnova</cp:lastModifiedBy>
  <cp:revision>5</cp:revision>
  <dcterms:created xsi:type="dcterms:W3CDTF">2013-01-27T09:14:16Z</dcterms:created>
  <dcterms:modified xsi:type="dcterms:W3CDTF">2026-10-15T02:59:45Z</dcterms:modified>
  <cp:category/>
</cp:coreProperties>
</file>